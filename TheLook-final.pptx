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Mukta Light" panose="020B0604020202020204" charset="0"/>
      <p:regular r:id="rId8"/>
      <p:bold r:id="rId9"/>
    </p:embeddedFont>
    <p:embeddedFont>
      <p:font typeface="Prompt" panose="00000500000000000000" pitchFamily="2" charset="-34"/>
      <p:regular r:id="rId10"/>
      <p:bold r:id="rId11"/>
      <p:italic r:id="rId12"/>
      <p:boldItalic r:id="rId13"/>
    </p:embeddedFont>
    <p:embeddedFont>
      <p:font typeface="Prompt Medium" panose="00000600000000000000" pitchFamily="2" charset="-34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4fssXTQF5+3Li/59w/WkQNtb1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BFEE">
              <a:alpha val="9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Google Shape;22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" name="Google Shape;26;p1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949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879272" y="1374700"/>
            <a:ext cx="6992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Prompt Medium"/>
              <a:buNone/>
            </a:pPr>
            <a:r>
              <a:rPr lang="it-IT" sz="4300" b="0" i="0" u="none" strike="noStrike" cap="none" noProof="0" dirty="0" err="1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TheLook</a:t>
            </a:r>
            <a:r>
              <a:rPr lang="it-IT" sz="4300" b="0" i="0" u="none" strike="noStrike" cap="none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it-IT" sz="43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E-commerce </a:t>
            </a:r>
            <a:endParaRPr lang="it-IT" sz="43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978912" y="2358978"/>
            <a:ext cx="129024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ukta Light"/>
              <a:buNone/>
            </a:pPr>
            <a:r>
              <a:rPr lang="it-IT" sz="1900" b="0" i="0" u="none" strike="noStrike" cap="none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Retailer globale di moda esclusivamente online, nato per rendere il fashion d'avanguardia accessibile a tutti. Una piattaforma tecnologica proprietaria al servizio di una clientela internazionale.</a:t>
            </a:r>
            <a:endParaRPr lang="it-IT" sz="19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78912" y="4031756"/>
            <a:ext cx="12902400" cy="1805100"/>
          </a:xfrm>
          <a:prstGeom prst="roundRect">
            <a:avLst>
              <a:gd name="adj" fmla="val 5744"/>
            </a:avLst>
          </a:prstGeom>
          <a:solidFill>
            <a:srgbClr val="99D3D3"/>
          </a:solidFill>
          <a:ln w="15225" cap="flat" cmpd="sng">
            <a:solidFill>
              <a:srgbClr val="0049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169813" y="4046896"/>
            <a:ext cx="30600" cy="1774800"/>
          </a:xfrm>
          <a:prstGeom prst="roundRect">
            <a:avLst>
              <a:gd name="adj" fmla="val 340200"/>
            </a:avLst>
          </a:prstGeom>
          <a:solidFill>
            <a:srgbClr val="00494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416629" y="4331625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Mercati Chiave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416629" y="4822639"/>
            <a:ext cx="37971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Nord America, Europa, Asia e Brasile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430043" y="4046896"/>
            <a:ext cx="30600" cy="1774800"/>
          </a:xfrm>
          <a:prstGeom prst="roundRect">
            <a:avLst>
              <a:gd name="adj" fmla="val 340200"/>
            </a:avLst>
          </a:prstGeom>
          <a:solidFill>
            <a:srgbClr val="00494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676860" y="4822651"/>
            <a:ext cx="37971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Direct-to-Consumer (D2C) con rete logistica integrata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156693" y="4289350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Settore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1156693" y="4780364"/>
            <a:ext cx="37968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Fashion &amp; </a:t>
            </a:r>
            <a:r>
              <a:rPr lang="it-IT" sz="1900" noProof="0" dirty="0" err="1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Apparel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E-commerce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737710" y="4289362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Modello di Business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949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1015860" y="679850"/>
            <a:ext cx="12905400" cy="684300"/>
          </a:xfrm>
          <a:prstGeom prst="rect">
            <a:avLst/>
          </a:prstGeom>
          <a:solidFill>
            <a:srgbClr val="00494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4300"/>
              <a:buFont typeface="Prompt Medium"/>
              <a:buNone/>
            </a:pPr>
            <a:r>
              <a:rPr lang="it-IT" sz="43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Asset Strategici e Posizionamento di Mercato</a:t>
            </a:r>
            <a:endParaRPr lang="it-IT" sz="43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2500" y="1856075"/>
            <a:ext cx="12984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Asset strategici che definiscono la capacità operativa e il posizionamento competitivo di The Look E-commerce  nel mercato globale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62489" y="2649736"/>
            <a:ext cx="4096822" cy="8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6400"/>
              <a:buFont typeface="Prompt Medium"/>
              <a:buNone/>
            </a:pPr>
            <a:r>
              <a:rPr lang="it-IT" sz="64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25K+</a:t>
            </a:r>
            <a:endParaRPr lang="it-IT" sz="64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541859" y="3770471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Prodotti Unici</a:t>
            </a:r>
            <a:endParaRPr lang="it-IT" sz="215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2489" y="4260294"/>
            <a:ext cx="4096822" cy="78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Dall'abbigliamento casual agli accessori di lusso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266730" y="2649736"/>
            <a:ext cx="4096822" cy="8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6400"/>
              <a:buFont typeface="Prompt Medium"/>
              <a:buNone/>
            </a:pPr>
            <a:r>
              <a:rPr lang="it-IT" sz="64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4</a:t>
            </a:r>
            <a:endParaRPr lang="it-IT" sz="64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946100" y="3770471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Mercati Globali</a:t>
            </a:r>
            <a:endParaRPr lang="it-IT" sz="215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266730" y="4260294"/>
            <a:ext cx="4096822" cy="39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Presenza consolidata su tre continenti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70971" y="2649736"/>
            <a:ext cx="4096822" cy="8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6400"/>
              <a:buFont typeface="Prompt Medium"/>
              <a:buNone/>
            </a:pPr>
            <a:r>
              <a:rPr lang="it-IT" sz="64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37.5%↑</a:t>
            </a:r>
            <a:endParaRPr lang="it-IT" sz="64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350341" y="3770471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Clienti Ricorrenti</a:t>
            </a:r>
            <a:endParaRPr lang="it-IT" sz="215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670971" y="4260294"/>
            <a:ext cx="4096822" cy="78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Crescente percentuale di utenti fidelizzati ( &gt;2 ordini)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62489" y="5324713"/>
            <a:ext cx="6329720" cy="2225040"/>
          </a:xfrm>
          <a:prstGeom prst="roundRect">
            <a:avLst>
              <a:gd name="adj" fmla="val 6575"/>
            </a:avLst>
          </a:prstGeom>
          <a:solidFill>
            <a:srgbClr val="99D3D3"/>
          </a:solidFill>
          <a:ln w="30475" cap="flat" cmpd="sng">
            <a:solidFill>
              <a:srgbClr val="00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32009" y="5324713"/>
            <a:ext cx="121920" cy="2225040"/>
          </a:xfrm>
          <a:prstGeom prst="roundRect">
            <a:avLst>
              <a:gd name="adj" fmla="val 84893"/>
            </a:avLst>
          </a:prstGeom>
          <a:solidFill>
            <a:srgbClr val="006E6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230749" y="5601533"/>
            <a:ext cx="3473331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Infrastruttura Logistica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230749" y="6254412"/>
            <a:ext cx="5684639" cy="523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Rete di centri di distribuzione posizionati </a:t>
            </a:r>
            <a:r>
              <a:rPr lang="it-IT" sz="1900" noProof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in America.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438073" y="5324713"/>
            <a:ext cx="6329839" cy="2225040"/>
          </a:xfrm>
          <a:prstGeom prst="roundRect">
            <a:avLst>
              <a:gd name="adj" fmla="val 6575"/>
            </a:avLst>
          </a:prstGeom>
          <a:solidFill>
            <a:srgbClr val="99D3D3"/>
          </a:solidFill>
          <a:ln w="30475" cap="flat" cmpd="sng">
            <a:solidFill>
              <a:srgbClr val="00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407593" y="5324713"/>
            <a:ext cx="121920" cy="2225040"/>
          </a:xfrm>
          <a:prstGeom prst="roundRect">
            <a:avLst>
              <a:gd name="adj" fmla="val 84893"/>
            </a:avLst>
          </a:prstGeom>
          <a:solidFill>
            <a:srgbClr val="006E6E"/>
          </a:solidFill>
          <a:ln w="9525" cap="flat" cmpd="sng">
            <a:solidFill>
              <a:srgbClr val="00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806333" y="5601533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Customer Base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806333" y="6091357"/>
            <a:ext cx="5684758" cy="118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Migliaia di utenti registrati con profili demografici diversificati e comportamenti d'acquisto tracciati in tempo reale.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949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933112" y="1500081"/>
            <a:ext cx="975520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4300"/>
              <a:buFont typeface="Prompt Medium"/>
              <a:buNone/>
            </a:pPr>
            <a:r>
              <a:rPr lang="it-IT" sz="43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Criticità: 22% di scorte fantasma</a:t>
            </a:r>
            <a:endParaRPr lang="it-IT" sz="43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33112" y="2570540"/>
            <a:ext cx="129024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È stata rilevata una </a:t>
            </a:r>
            <a:r>
              <a:rPr lang="it-IT" sz="1900" b="1" i="1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disconnessione critica</a:t>
            </a:r>
            <a:r>
              <a:rPr lang="it-IT" sz="1900" i="1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tra i dati di inventario di magazzino e la lista effettiva degli ordini.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6276" y="3659743"/>
            <a:ext cx="6505575" cy="2638901"/>
          </a:xfrm>
          <a:prstGeom prst="roundRect">
            <a:avLst>
              <a:gd name="adj" fmla="val 6736"/>
            </a:avLst>
          </a:prstGeom>
          <a:solidFill>
            <a:srgbClr val="99D3D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33093" y="3906560"/>
            <a:ext cx="32629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Scorte nel magazzino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33063" y="4329625"/>
            <a:ext cx="6012000" cy="14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Prodotti registrati nel database di magazzino che risultano disponibili a sistema ma non corrispondono alla realtà fisica o agli ordini effettivi.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251251" y="3659743"/>
            <a:ext cx="6505500" cy="2638800"/>
          </a:xfrm>
          <a:prstGeom prst="roundRect">
            <a:avLst>
              <a:gd name="adj" fmla="val 6736"/>
            </a:avLst>
          </a:prstGeom>
          <a:solidFill>
            <a:srgbClr val="99D3D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29004" y="3894248"/>
            <a:ext cx="5243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rPr>
              <a:t>Articoli registrati per ordine effettuato</a:t>
            </a:r>
            <a:endParaRPr lang="it-IT" sz="215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497250" y="4329625"/>
            <a:ext cx="6076500" cy="18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I record di ordini e articoli ordinati raccontano una storia diversa. C'è una mancanza di comunicazione tra i due sistemi che genera inefficienze operative e potenziali perdite di fatturato.</a:t>
            </a:r>
            <a:endParaRPr lang="it-IT" sz="19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949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864037" y="2026444"/>
            <a:ext cx="840188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4300"/>
              <a:buFont typeface="Prompt Medium"/>
              <a:buNone/>
            </a:pPr>
            <a:r>
              <a:rPr lang="it-IT" sz="4300" noProof="0" dirty="0" err="1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Stack</a:t>
            </a:r>
            <a:r>
              <a:rPr lang="it-IT" sz="43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 Tecnologico dell'Analisi</a:t>
            </a:r>
            <a:endParaRPr lang="it-IT" sz="43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037" y="3205996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864037" y="41318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Google </a:t>
            </a:r>
            <a:r>
              <a:rPr lang="it-IT" sz="2150" noProof="0" dirty="0" err="1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BigQuery</a:t>
            </a:r>
            <a:endParaRPr lang="it-IT" sz="215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05050" y="4622850"/>
            <a:ext cx="4254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Estrazione e aggregazione di dataset massivi tramite </a:t>
            </a:r>
            <a:r>
              <a:rPr lang="it-IT" sz="1900" b="1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Google </a:t>
            </a:r>
            <a:r>
              <a:rPr lang="it-IT" sz="1900" b="1" noProof="0" dirty="0" err="1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BigQuery</a:t>
            </a: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, interrogando direttamente il cloud database di </a:t>
            </a:r>
            <a:r>
              <a:rPr lang="it-IT" sz="1900" i="1" noProof="0" dirty="0" err="1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TheLook</a:t>
            </a: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. 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7682" y="3205996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5267682" y="41318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Python</a:t>
            </a:r>
            <a:endParaRPr lang="it-IT" sz="215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267675" y="4622851"/>
            <a:ext cx="4095000" cy="17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Data </a:t>
            </a:r>
            <a:r>
              <a:rPr lang="it-IT" sz="1900" noProof="0" dirty="0" err="1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cleaning</a:t>
            </a: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, trasformazione, analisi statistica e un'implementazione di una </a:t>
            </a:r>
            <a:r>
              <a:rPr lang="it-IT" sz="1900" b="1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Regressione Lineare</a:t>
            </a: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 per prevedere l'andamento del fatturato.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71328" y="3205996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9671328" y="41318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it-IT" sz="215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Power BI</a:t>
            </a:r>
            <a:endParaRPr lang="it-IT" sz="215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671325" y="4622851"/>
            <a:ext cx="4095000" cy="13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Storytelling visivo e data </a:t>
            </a:r>
            <a:r>
              <a:rPr lang="it-IT" sz="1900" noProof="0" dirty="0" err="1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visualization</a:t>
            </a: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 interattiva per comunicare i risultati agli stakeholder.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949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5" descr="preencoded.png"/>
          <p:cNvPicPr preferRelativeResize="0"/>
          <p:nvPr/>
        </p:nvPicPr>
        <p:blipFill rotWithShape="1">
          <a:blip r:embed="rId3">
            <a:alphaModFix/>
          </a:blip>
          <a:srcRect r="2305" b="4888"/>
          <a:stretch/>
        </p:blipFill>
        <p:spPr>
          <a:xfrm>
            <a:off x="5588340" y="1743458"/>
            <a:ext cx="8859723" cy="48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993950" y="663650"/>
            <a:ext cx="106425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2550"/>
              <a:buFont typeface="Prompt Medium"/>
              <a:buNone/>
            </a:pPr>
            <a:r>
              <a:rPr lang="it-IT" sz="43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Roadmap strategica: dove intervenire?</a:t>
            </a:r>
            <a:endParaRPr lang="it-IT" sz="43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55" y="1866767"/>
            <a:ext cx="221695" cy="22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493640" y="1743458"/>
            <a:ext cx="39852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250"/>
              <a:buFont typeface="Prompt Medium"/>
              <a:buNone/>
            </a:pPr>
            <a:r>
              <a:rPr lang="it-IT" sz="2400" noProof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Ottimizzare le Scorte</a:t>
            </a:r>
            <a:endParaRPr lang="it-IT" sz="2400" noProof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93640" y="2339748"/>
            <a:ext cx="49318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15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Migliorare l'allocazione dell'inventario riducendo</a:t>
            </a:r>
            <a:b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</a:b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le scorte fantasma e disallineamenti tra sistemi.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55" y="3521527"/>
            <a:ext cx="221695" cy="22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522750" y="3373886"/>
            <a:ext cx="4931800" cy="8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250"/>
              <a:buFont typeface="Prompt Medium"/>
              <a:buNone/>
            </a:pPr>
            <a:r>
              <a:rPr lang="it-IT" sz="24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Esperienza d'Acquisto Personalizzata</a:t>
            </a:r>
            <a:endParaRPr lang="it-IT" sz="24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22750" y="4465232"/>
            <a:ext cx="4902690" cy="6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15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Sfruttare i dati demografici per affinare l'offerta 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55" y="5215427"/>
            <a:ext cx="221695" cy="22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473890" y="5191570"/>
            <a:ext cx="4559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250"/>
              <a:buFont typeface="Prompt Medium"/>
              <a:buNone/>
            </a:pPr>
            <a:r>
              <a:rPr lang="it-IT" sz="2400" noProof="0" dirty="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Driver di Profitto</a:t>
            </a:r>
            <a:endParaRPr lang="it-IT" sz="24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22750" y="5783208"/>
            <a:ext cx="490269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150"/>
              <a:buFont typeface="Mukta Light"/>
              <a:buNone/>
            </a:pPr>
            <a:r>
              <a:rPr lang="it-IT" sz="1900" noProof="0" dirty="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Identificare i fattori chiave di redditività attraverso analisi predittive.</a:t>
            </a:r>
            <a:endParaRPr lang="it-IT" sz="190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338</Words>
  <Application>Microsoft Office PowerPoint</Application>
  <PresentationFormat>Personalizzato</PresentationFormat>
  <Paragraphs>49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Mukta Light</vt:lpstr>
      <vt:lpstr>Prompt Medium</vt:lpstr>
      <vt:lpstr>Arial</vt:lpstr>
      <vt:lpstr>Calibri</vt:lpstr>
      <vt:lpstr>Prompt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Giuseppe</dc:creator>
  <cp:lastModifiedBy>ALESSANDRO MONTORSI</cp:lastModifiedBy>
  <cp:revision>3</cp:revision>
  <dcterms:created xsi:type="dcterms:W3CDTF">2026-02-26T19:08:40Z</dcterms:created>
  <dcterms:modified xsi:type="dcterms:W3CDTF">2026-02-27T19:37:46Z</dcterms:modified>
</cp:coreProperties>
</file>