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4630400"/>
  <p:notesSz cx="8229600" cy="14630400"/>
  <p:embeddedFontLst>
    <p:embeddedFont>
      <p:font typeface="Prompt Medium"/>
      <p:regular r:id="rId10"/>
      <p:bold r:id="rId11"/>
      <p:italic r:id="rId12"/>
      <p:boldItalic r:id="rId13"/>
    </p:embeddedFont>
    <p:embeddedFont>
      <p:font typeface="Mukta Light"/>
      <p:regular r:id="rId14"/>
      <p:bold r:id="rId15"/>
    </p:embeddedFont>
    <p:embeddedFont>
      <p:font typeface="Promp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4fssXTQF5+3Li/59w/WkQNtb1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font" Target="fonts/PromptMedium-bold.fntdata"/><Relationship Id="rId10" Type="http://schemas.openxmlformats.org/officeDocument/2006/relationships/font" Target="fonts/PromptMedium-regular.fntdata"/><Relationship Id="rId13" Type="http://schemas.openxmlformats.org/officeDocument/2006/relationships/font" Target="fonts/PromptMedium-boldItalic.fntdata"/><Relationship Id="rId12" Type="http://schemas.openxmlformats.org/officeDocument/2006/relationships/font" Target="fonts/Prompt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uktaLight-bold.fntdata"/><Relationship Id="rId14" Type="http://schemas.openxmlformats.org/officeDocument/2006/relationships/font" Target="fonts/MuktaLight-regular.fntdata"/><Relationship Id="rId17" Type="http://schemas.openxmlformats.org/officeDocument/2006/relationships/font" Target="fonts/Prompt-bold.fntdata"/><Relationship Id="rId16" Type="http://schemas.openxmlformats.org/officeDocument/2006/relationships/font" Target="fonts/Prompt-regular.fntdata"/><Relationship Id="rId5" Type="http://schemas.openxmlformats.org/officeDocument/2006/relationships/slide" Target="slides/slide1.xml"/><Relationship Id="rId19" Type="http://schemas.openxmlformats.org/officeDocument/2006/relationships/font" Target="fonts/Prompt-boldItalic.fntdata"/><Relationship Id="rId6" Type="http://schemas.openxmlformats.org/officeDocument/2006/relationships/slide" Target="slides/slide2.xml"/><Relationship Id="rId18" Type="http://schemas.openxmlformats.org/officeDocument/2006/relationships/font" Target="fonts/Promp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" name="Google Shape;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6BFEE">
              <a:alpha val="9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" name="Google Shape;10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" name="Google Shape;14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" name="Google Shape;2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" name="Google Shape;26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49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/>
          <p:nvPr/>
        </p:nvSpPr>
        <p:spPr>
          <a:xfrm>
            <a:off x="879272" y="1374700"/>
            <a:ext cx="6992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Prompt Medium"/>
              <a:buNone/>
            </a:pPr>
            <a:r>
              <a:rPr b="0" i="0" lang="en-US" sz="4300" u="none" cap="none" strike="noStrike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TheLook </a:t>
            </a:r>
            <a:r>
              <a:rPr lang="en-US" sz="43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E-commerce </a:t>
            </a:r>
            <a:endParaRPr b="0" i="0" sz="4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978912" y="2358978"/>
            <a:ext cx="12902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ukta Light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Retailer globale di moda esclusivamente online, nato per rendere il fashion d'avanguardia accessibile a tutti. Una piattaforma tecnologica proprietaria al servizio di una clientela internazionale.</a:t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978912" y="4031756"/>
            <a:ext cx="12902400" cy="1805100"/>
          </a:xfrm>
          <a:prstGeom prst="roundRect">
            <a:avLst>
              <a:gd fmla="val 5744" name="adj"/>
            </a:avLst>
          </a:prstGeom>
          <a:solidFill>
            <a:srgbClr val="99D3D3"/>
          </a:solidFill>
          <a:ln cap="flat" cmpd="sng" w="15225">
            <a:solidFill>
              <a:srgbClr val="0049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5169813" y="4046896"/>
            <a:ext cx="30600" cy="1774800"/>
          </a:xfrm>
          <a:prstGeom prst="roundRect">
            <a:avLst>
              <a:gd fmla="val 340200" name="adj"/>
            </a:avLst>
          </a:prstGeom>
          <a:solidFill>
            <a:srgbClr val="0049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416629" y="4331625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rPr>
              <a:t>Mercati Chiave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416629" y="4822639"/>
            <a:ext cx="37971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Nord America, Europa, Asia e Brasile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9430043" y="4046896"/>
            <a:ext cx="30600" cy="1774800"/>
          </a:xfrm>
          <a:prstGeom prst="roundRect">
            <a:avLst>
              <a:gd fmla="val 340200" name="adj"/>
            </a:avLst>
          </a:prstGeom>
          <a:solidFill>
            <a:srgbClr val="0049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9676860" y="4822651"/>
            <a:ext cx="37971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Direct-to-Consumer (D2C) con rete logistica integrata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1156693" y="4289350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rPr>
              <a:t>Settore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1156693" y="4780364"/>
            <a:ext cx="37968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Fashion &amp; Apparel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E-commerce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9737710" y="4289362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rPr>
              <a:t>Modello di Business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49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/>
          <p:nvPr/>
        </p:nvSpPr>
        <p:spPr>
          <a:xfrm>
            <a:off x="1015860" y="679850"/>
            <a:ext cx="12905400" cy="684300"/>
          </a:xfrm>
          <a:prstGeom prst="rect">
            <a:avLst/>
          </a:prstGeom>
          <a:solidFill>
            <a:srgbClr val="00494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18"/>
              </a:lnSpc>
              <a:spcBef>
                <a:spcPts val="0"/>
              </a:spcBef>
              <a:spcAft>
                <a:spcPts val="0"/>
              </a:spcAft>
              <a:buClr>
                <a:srgbClr val="C6BFEE"/>
              </a:buClr>
              <a:buSzPts val="4300"/>
              <a:buFont typeface="Prompt Medium"/>
              <a:buNone/>
            </a:pPr>
            <a:r>
              <a:rPr lang="en-US" sz="43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Asset Strategici e Posizionamento di Mercato</a:t>
            </a:r>
            <a:endParaRPr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62500" y="1856075"/>
            <a:ext cx="129840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Asset strategici che definiscono la capacità operativa e il posizionamento competitivo di The Look E-commerce  nel mercato globale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62489" y="2649736"/>
            <a:ext cx="4096822" cy="81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6400"/>
              <a:buFont typeface="Prompt Medium"/>
              <a:buNone/>
            </a:pPr>
            <a:r>
              <a:rPr lang="en-US" sz="64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25K+</a:t>
            </a:r>
            <a:endParaRPr sz="6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541859" y="3770471"/>
            <a:ext cx="2738080" cy="34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Prodotti Unici</a:t>
            </a:r>
            <a:endParaRPr sz="2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62489" y="4260294"/>
            <a:ext cx="4096822" cy="787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Dall'abbigliamento casual agli accessori di lusso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266730" y="2649736"/>
            <a:ext cx="4096822" cy="81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6400"/>
              <a:buFont typeface="Prompt Medium"/>
              <a:buNone/>
            </a:pPr>
            <a:r>
              <a:rPr lang="en-US" sz="64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4</a:t>
            </a:r>
            <a:endParaRPr sz="6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946100" y="3770471"/>
            <a:ext cx="2738080" cy="34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Mercati Globali</a:t>
            </a:r>
            <a:endParaRPr sz="2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266730" y="4260294"/>
            <a:ext cx="4096822" cy="393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Presenza consolidata su tre continenti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670971" y="2649736"/>
            <a:ext cx="4096822" cy="81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6400"/>
              <a:buFont typeface="Prompt Medium"/>
              <a:buNone/>
            </a:pPr>
            <a:r>
              <a:rPr lang="en-US" sz="64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37.5%↑</a:t>
            </a:r>
            <a:endParaRPr sz="6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350341" y="3770471"/>
            <a:ext cx="2738080" cy="34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Clienti Ricorrenti</a:t>
            </a:r>
            <a:endParaRPr sz="2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9670971" y="4260294"/>
            <a:ext cx="4096822" cy="787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Crescente percentuale di utenti fidelizzati ( &gt;1 ordini)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62489" y="5324713"/>
            <a:ext cx="6329720" cy="2225040"/>
          </a:xfrm>
          <a:prstGeom prst="roundRect">
            <a:avLst>
              <a:gd fmla="val 6575" name="adj"/>
            </a:avLst>
          </a:prstGeom>
          <a:solidFill>
            <a:srgbClr val="99D3D3"/>
          </a:solidFill>
          <a:ln cap="flat" cmpd="sng" w="30475">
            <a:solidFill>
              <a:srgbClr val="006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32009" y="5324713"/>
            <a:ext cx="121920" cy="2225040"/>
          </a:xfrm>
          <a:prstGeom prst="roundRect">
            <a:avLst>
              <a:gd fmla="val 84893" name="adj"/>
            </a:avLst>
          </a:prstGeom>
          <a:solidFill>
            <a:srgbClr val="006E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230749" y="5601533"/>
            <a:ext cx="3012877" cy="34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rPr>
              <a:t>Infrastruttura Logistica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230749" y="6091357"/>
            <a:ext cx="5684639" cy="1181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Rete di centri di distribuzione globali strategicamente posizionati per garantire tempi di consegna rapidi e copertura capillare.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438073" y="5324713"/>
            <a:ext cx="6329839" cy="2225040"/>
          </a:xfrm>
          <a:prstGeom prst="roundRect">
            <a:avLst>
              <a:gd fmla="val 6575" name="adj"/>
            </a:avLst>
          </a:prstGeom>
          <a:solidFill>
            <a:srgbClr val="99D3D3"/>
          </a:solidFill>
          <a:ln cap="flat" cmpd="sng" w="30475">
            <a:solidFill>
              <a:srgbClr val="006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407593" y="5324713"/>
            <a:ext cx="121920" cy="2225040"/>
          </a:xfrm>
          <a:prstGeom prst="roundRect">
            <a:avLst>
              <a:gd fmla="val 84893" name="adj"/>
            </a:avLst>
          </a:prstGeom>
          <a:solidFill>
            <a:srgbClr val="006E6E"/>
          </a:solidFill>
          <a:ln cap="flat" cmpd="sng" w="9525">
            <a:solidFill>
              <a:srgbClr val="006E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7806333" y="5601533"/>
            <a:ext cx="2738080" cy="34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dk1"/>
                </a:solidFill>
                <a:latin typeface="Prompt Medium"/>
                <a:ea typeface="Prompt Medium"/>
                <a:cs typeface="Prompt Medium"/>
                <a:sym typeface="Prompt Medium"/>
              </a:rPr>
              <a:t>Customer Base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806333" y="6091357"/>
            <a:ext cx="5684758" cy="1181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Milioni di utenti registrati con profili demografici diversificati e comportamenti d'acquisto tracciati in tempo reale.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49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933112" y="1500081"/>
            <a:ext cx="8673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6BFEE"/>
              </a:buClr>
              <a:buSzPts val="4300"/>
              <a:buFont typeface="Prompt Medium"/>
              <a:buNone/>
            </a:pPr>
            <a:r>
              <a:rPr lang="en-US" sz="43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Criticità: 22% di scorte fantasma</a:t>
            </a:r>
            <a:endParaRPr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33112" y="2570540"/>
            <a:ext cx="129024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È stata rilevata una </a:t>
            </a:r>
            <a:r>
              <a:rPr b="1" i="1"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disconnessione critica</a:t>
            </a:r>
            <a:r>
              <a:rPr i="1"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 </a:t>
            </a: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tra i dati di inventario di magazzino e la lista effettiva degli ordini.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86276" y="3659743"/>
            <a:ext cx="6505575" cy="2638901"/>
          </a:xfrm>
          <a:prstGeom prst="roundRect">
            <a:avLst>
              <a:gd fmla="val 6736" name="adj"/>
            </a:avLst>
          </a:prstGeom>
          <a:solidFill>
            <a:srgbClr val="99D3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33093" y="3906560"/>
            <a:ext cx="28719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rgbClr val="000000"/>
                </a:solidFill>
                <a:latin typeface="Prompt Medium"/>
                <a:ea typeface="Prompt Medium"/>
                <a:cs typeface="Prompt Medium"/>
                <a:sym typeface="Prompt Medium"/>
              </a:rPr>
              <a:t>Scorte nel magazzino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33063" y="4329625"/>
            <a:ext cx="6012000" cy="1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ukta Light"/>
              <a:buNone/>
            </a:pPr>
            <a:r>
              <a:rPr lang="en-US" sz="1900">
                <a:solidFill>
                  <a:srgbClr val="000000"/>
                </a:solidFill>
                <a:latin typeface="Mukta Light"/>
                <a:ea typeface="Mukta Light"/>
                <a:cs typeface="Mukta Light"/>
                <a:sym typeface="Mukta Light"/>
              </a:rPr>
              <a:t>Prodotti registrati nel database di magazzino che risultano disponibili a sistema ma non corrispondono alla realtà fisica o agli ordini effettivi.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251251" y="3659743"/>
            <a:ext cx="6505500" cy="2638800"/>
          </a:xfrm>
          <a:prstGeom prst="roundRect">
            <a:avLst>
              <a:gd fmla="val 6736" name="adj"/>
            </a:avLst>
          </a:prstGeom>
          <a:solidFill>
            <a:srgbClr val="99D3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429004" y="3894248"/>
            <a:ext cx="524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6BFEE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dk1"/>
                </a:solidFill>
                <a:latin typeface="Prompt"/>
                <a:ea typeface="Prompt"/>
                <a:cs typeface="Prompt"/>
                <a:sym typeface="Prompt"/>
              </a:rPr>
              <a:t>Articoli registrati per ordine effettuato</a:t>
            </a:r>
            <a:endParaRPr sz="2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497250" y="4329625"/>
            <a:ext cx="6076500" cy="18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dk1"/>
                </a:solidFill>
                <a:latin typeface="Mukta Light"/>
                <a:ea typeface="Mukta Light"/>
                <a:cs typeface="Mukta Light"/>
                <a:sym typeface="Mukta Light"/>
              </a:rPr>
              <a:t>I record di ordini e articoli ordinati raccontano una storia diversa. C'è una mancanza di comunicazione tra i due sistemi che genera inefficienze operative e potenziali perdite di fatturato.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49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864037" y="2026444"/>
            <a:ext cx="785883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C6BFEE"/>
              </a:buClr>
              <a:buSzPts val="4300"/>
              <a:buFont typeface="Prompt Medium"/>
              <a:buNone/>
            </a:pPr>
            <a:r>
              <a:rPr lang="en-US" sz="43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Stack Tecnologico dell'Analisi</a:t>
            </a:r>
            <a:endParaRPr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4037" y="3205996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864037" y="413182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Google </a:t>
            </a:r>
            <a:r>
              <a:rPr lang="en-US" sz="215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BigQuery</a:t>
            </a:r>
            <a:endParaRPr sz="2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05050" y="4622850"/>
            <a:ext cx="42540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Estrazione e aggregazione di dataset massivi tramite </a:t>
            </a:r>
            <a:r>
              <a:rPr b="1"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Google BigQuery</a:t>
            </a: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, interrogando direttamente il cloud database di </a:t>
            </a:r>
            <a:r>
              <a:rPr i="1"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TheLook</a:t>
            </a: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. 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7682" y="3205996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5267682" y="413182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Python</a:t>
            </a:r>
            <a:endParaRPr sz="2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267675" y="4622851"/>
            <a:ext cx="4095000" cy="17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Data cleaning, trasformazione, analisi statistica e un'implementazione di una </a:t>
            </a:r>
            <a:r>
              <a:rPr b="1"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Regressione Lineare</a:t>
            </a: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 per prevedere l'andamento del fatturato.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1328" y="3205996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9671328" y="4131826"/>
            <a:ext cx="2743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2150"/>
              <a:buFont typeface="Prompt Medium"/>
              <a:buNone/>
            </a:pPr>
            <a:r>
              <a:rPr lang="en-US" sz="215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Power BI</a:t>
            </a:r>
            <a:endParaRPr sz="2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671325" y="4622851"/>
            <a:ext cx="4095000" cy="13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90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Storytelling visivo e data visualization interattiva per comunicare i risultati agli stakeholder.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949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0" name="Google Shape;100;p5"/>
          <p:cNvPicPr preferRelativeResize="0"/>
          <p:nvPr/>
        </p:nvPicPr>
        <p:blipFill rotWithShape="1">
          <a:blip r:embed="rId3">
            <a:alphaModFix/>
          </a:blip>
          <a:srcRect b="4888" l="0" r="2305" t="0"/>
          <a:stretch/>
        </p:blipFill>
        <p:spPr>
          <a:xfrm>
            <a:off x="5360250" y="1738050"/>
            <a:ext cx="8859723" cy="481414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1993950" y="663650"/>
            <a:ext cx="106425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C6BFEE"/>
              </a:buClr>
              <a:buSzPts val="2550"/>
              <a:buFont typeface="Prompt Medium"/>
              <a:buNone/>
            </a:pPr>
            <a:r>
              <a:rPr lang="en-US" sz="43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Roadmap strategica: dove intervenire?</a:t>
            </a:r>
            <a:endParaRPr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895" y="1866775"/>
            <a:ext cx="221695" cy="221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698250" y="1732064"/>
            <a:ext cx="39852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250"/>
              <a:buFont typeface="Prompt Medium"/>
              <a:buNone/>
            </a:pPr>
            <a:r>
              <a:rPr lang="en-US" sz="24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Ottimizzare le Scorte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54600" y="2357975"/>
            <a:ext cx="48183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15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Migliorare l'allocazione dell'inventario riducendo</a:t>
            </a:r>
            <a:b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</a:b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 le scorte fantasma e disallineamenti tra sistemi.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520" y="3501368"/>
            <a:ext cx="221695" cy="221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626450" y="3365337"/>
            <a:ext cx="4674600" cy="8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250"/>
              <a:buFont typeface="Prompt Medium"/>
              <a:buNone/>
            </a:pPr>
            <a:r>
              <a:rPr lang="en-US" sz="24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Esperienza d'Acquisto Personalizzata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26450" y="4272197"/>
            <a:ext cx="46746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15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Sfruttare i dati demografici per affinare l'offerta 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1545" y="5265232"/>
            <a:ext cx="221695" cy="22169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611888" y="5191570"/>
            <a:ext cx="4559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250"/>
              <a:buFont typeface="Prompt Medium"/>
              <a:buNone/>
            </a:pPr>
            <a:r>
              <a:rPr lang="en-US" sz="2400">
                <a:solidFill>
                  <a:schemeClr val="lt1"/>
                </a:solidFill>
                <a:latin typeface="Prompt Medium"/>
                <a:ea typeface="Prompt Medium"/>
                <a:cs typeface="Prompt Medium"/>
                <a:sym typeface="Prompt Medium"/>
              </a:rPr>
              <a:t>Driver di Profitto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11902" y="5783208"/>
            <a:ext cx="45597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DAD8E9"/>
              </a:buClr>
              <a:buSzPts val="1150"/>
              <a:buFont typeface="Mukta Light"/>
              <a:buNone/>
            </a:pPr>
            <a:r>
              <a:rPr lang="en-US" sz="1900">
                <a:solidFill>
                  <a:schemeClr val="lt1"/>
                </a:solidFill>
                <a:latin typeface="Mukta Light"/>
                <a:ea typeface="Mukta Light"/>
                <a:cs typeface="Mukta Light"/>
                <a:sym typeface="Mukta Light"/>
              </a:rPr>
              <a:t>Identificare i fattori chiave di redditività attraverso analisi predittive.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2026-02-26T19:08:40Z</dcterms:created>
  <dc:creator>Giuseppe</dc:creator>
</cp:coreProperties>
</file>